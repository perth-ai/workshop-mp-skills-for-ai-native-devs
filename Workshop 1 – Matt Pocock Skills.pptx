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66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7F4A5B-9CAE-B834-7F28-4766ED158E59}" name="Lindsey Duncan" initials="LD" userId="S::lindsey.duncan@interfuze.com.au::01989b1f-c102-43f5-b469-b0d47ab0eb46" providerId="AD"/>
  <p188:author id="{73AA738A-0371-EE61-8DB1-B6FFF8AC43D5}" name="Tim De Boer" initials="TD" userId="S::tim.deboer@interfuze.com.au::69454a62-16d2-4aa4-ab97-08675835011e" providerId="AD"/>
  <p188:author id="{F740D5F4-C283-D70B-B827-C99D8A41D786}" name="Cheryl Ryan" initials="CR" userId="S::cheryl.ryan@interfuze.com.au::becf09c1-1e9a-44de-b737-18ef8aed9b8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le Bollig" initials="DB" lastIdx="1" clrIdx="0">
    <p:extLst>
      <p:ext uri="{19B8F6BF-5375-455C-9EA6-DF929625EA0E}">
        <p15:presenceInfo xmlns:p15="http://schemas.microsoft.com/office/powerpoint/2012/main" userId="S::danielle.bollig@interfuze.com.au::666f8bb1-d71f-424b-9f63-d742299a7a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  <a:srgbClr val="F15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8720D-B07C-4C4F-928C-819184722158}" v="3" dt="2026-08-19T06:14:24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595"/>
        <p:guide pos="66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t Saddi" userId="2d998638-ae0b-4f25-bc87-0ba848cabb3b" providerId="ADAL" clId="{B5A53514-1C99-4275-905C-277C44E2517D}"/>
    <pc:docChg chg="undo custSel modSld">
      <pc:chgData name="Rajat Saddi" userId="2d998638-ae0b-4f25-bc87-0ba848cabb3b" providerId="ADAL" clId="{B5A53514-1C99-4275-905C-277C44E2517D}" dt="2026-08-19T06:43:42.086" v="198" actId="20577"/>
      <pc:docMkLst>
        <pc:docMk/>
      </pc:docMkLst>
      <pc:sldChg chg="delSp modSp mod">
        <pc:chgData name="Rajat Saddi" userId="2d998638-ae0b-4f25-bc87-0ba848cabb3b" providerId="ADAL" clId="{B5A53514-1C99-4275-905C-277C44E2517D}" dt="2026-08-19T06:15:48.373" v="154" actId="20577"/>
        <pc:sldMkLst>
          <pc:docMk/>
          <pc:sldMk cId="0" sldId="256"/>
        </pc:sldMkLst>
        <pc:spChg chg="mod">
          <ac:chgData name="Rajat Saddi" userId="2d998638-ae0b-4f25-bc87-0ba848cabb3b" providerId="ADAL" clId="{B5A53514-1C99-4275-905C-277C44E2517D}" dt="2026-08-19T06:15:38.709" v="13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15:48.373" v="154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5:59:59.541" v="56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00:21.319" v="64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Rajat Saddi" userId="2d998638-ae0b-4f25-bc87-0ba848cabb3b" providerId="ADAL" clId="{B5A53514-1C99-4275-905C-277C44E2517D}" dt="2026-08-19T05:45:09.527" v="49" actId="6549"/>
        <pc:sldMkLst>
          <pc:docMk/>
          <pc:sldMk cId="0" sldId="257"/>
        </pc:sldMkLst>
        <pc:spChg chg="mod">
          <ac:chgData name="Rajat Saddi" userId="2d998638-ae0b-4f25-bc87-0ba848cabb3b" providerId="ADAL" clId="{B5A53514-1C99-4275-905C-277C44E2517D}" dt="2026-08-19T05:43:20.793" v="37" actId="6549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5:43:10.499" v="36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5:43:54.388" v="41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5:45:09.527" v="49" actId="6549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Rajat Saddi" userId="2d998638-ae0b-4f25-bc87-0ba848cabb3b" providerId="ADAL" clId="{B5A53514-1C99-4275-905C-277C44E2517D}" dt="2026-08-19T05:45:16.731" v="50" actId="6549"/>
        <pc:sldMkLst>
          <pc:docMk/>
          <pc:sldMk cId="0" sldId="258"/>
        </pc:sldMkLst>
        <pc:spChg chg="mod">
          <ac:chgData name="Rajat Saddi" userId="2d998638-ae0b-4f25-bc87-0ba848cabb3b" providerId="ADAL" clId="{B5A53514-1C99-4275-905C-277C44E2517D}" dt="2026-08-19T05:45:16.731" v="50" actId="6549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Rajat Saddi" userId="2d998638-ae0b-4f25-bc87-0ba848cabb3b" providerId="ADAL" clId="{B5A53514-1C99-4275-905C-277C44E2517D}" dt="2026-08-19T05:45:23.125" v="51" actId="6549"/>
        <pc:sldMkLst>
          <pc:docMk/>
          <pc:sldMk cId="0" sldId="259"/>
        </pc:sldMkLst>
        <pc:spChg chg="mod">
          <ac:chgData name="Rajat Saddi" userId="2d998638-ae0b-4f25-bc87-0ba848cabb3b" providerId="ADAL" clId="{B5A53514-1C99-4275-905C-277C44E2517D}" dt="2026-08-19T05:45:23.125" v="51" actId="6549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Rajat Saddi" userId="2d998638-ae0b-4f25-bc87-0ba848cabb3b" providerId="ADAL" clId="{B5A53514-1C99-4275-905C-277C44E2517D}" dt="2026-08-19T06:42:00.618" v="193" actId="20577"/>
        <pc:sldMkLst>
          <pc:docMk/>
          <pc:sldMk cId="0" sldId="260"/>
        </pc:sldMkLst>
        <pc:spChg chg="mod">
          <ac:chgData name="Rajat Saddi" userId="2d998638-ae0b-4f25-bc87-0ba848cabb3b" providerId="ADAL" clId="{B5A53514-1C99-4275-905C-277C44E2517D}" dt="2026-08-19T05:45:25.001" v="52" actId="6549"/>
          <ac:spMkLst>
            <pc:docMk/>
            <pc:sldMk cId="0" sldId="260"/>
            <ac:spMk id="5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02:27.813" v="81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42:00.618" v="193" actId="20577"/>
          <ac:spMkLst>
            <pc:docMk/>
            <pc:sldMk cId="0" sldId="260"/>
            <ac:spMk id="9" creationId="{00000000-0000-0000-0000-000000000000}"/>
          </ac:spMkLst>
        </pc:spChg>
        <pc:graphicFrameChg chg="modGraphic">
          <ac:chgData name="Rajat Saddi" userId="2d998638-ae0b-4f25-bc87-0ba848cabb3b" providerId="ADAL" clId="{B5A53514-1C99-4275-905C-277C44E2517D}" dt="2026-08-19T06:41:34.661" v="174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Rajat Saddi" userId="2d998638-ae0b-4f25-bc87-0ba848cabb3b" providerId="ADAL" clId="{B5A53514-1C99-4275-905C-277C44E2517D}" dt="2026-08-19T06:15:21.215" v="135" actId="20577"/>
        <pc:sldMkLst>
          <pc:docMk/>
          <pc:sldMk cId="0" sldId="261"/>
        </pc:sldMkLst>
        <pc:spChg chg="mod">
          <ac:chgData name="Rajat Saddi" userId="2d998638-ae0b-4f25-bc87-0ba848cabb3b" providerId="ADAL" clId="{B5A53514-1C99-4275-905C-277C44E2517D}" dt="2026-08-19T05:45:30.703" v="53" actId="6549"/>
          <ac:spMkLst>
            <pc:docMk/>
            <pc:sldMk cId="0" sldId="261"/>
            <ac:spMk id="5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15:13.473" v="129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15:21.215" v="135" actId="20577"/>
          <ac:spMkLst>
            <pc:docMk/>
            <pc:sldMk cId="0" sldId="261"/>
            <ac:spMk id="11" creationId="{00000000-0000-0000-0000-000000000000}"/>
          </ac:spMkLst>
        </pc:spChg>
      </pc:sldChg>
      <pc:sldChg chg="delSp modSp mod">
        <pc:chgData name="Rajat Saddi" userId="2d998638-ae0b-4f25-bc87-0ba848cabb3b" providerId="ADAL" clId="{B5A53514-1C99-4275-905C-277C44E2517D}" dt="2026-08-19T06:43:42.086" v="198" actId="20577"/>
        <pc:sldMkLst>
          <pc:docMk/>
          <pc:sldMk cId="0" sldId="262"/>
        </pc:sldMkLst>
        <pc:spChg chg="mod">
          <ac:chgData name="Rajat Saddi" userId="2d998638-ae0b-4f25-bc87-0ba848cabb3b" providerId="ADAL" clId="{B5A53514-1C99-4275-905C-277C44E2517D}" dt="2026-08-19T05:45:33.500" v="54" actId="6549"/>
          <ac:spMkLst>
            <pc:docMk/>
            <pc:sldMk cId="0" sldId="262"/>
            <ac:spMk id="5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43:42.086" v="198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14.381" v="97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16.445" v="100" actId="478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Rajat Saddi" userId="2d998638-ae0b-4f25-bc87-0ba848cabb3b" providerId="ADAL" clId="{B5A53514-1C99-4275-905C-277C44E2517D}" dt="2026-08-19T06:06:17.686" v="101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20.659" v="102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20.659" v="102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20.659" v="102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20.659" v="102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20.659" v="102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Rajat Saddi" userId="2d998638-ae0b-4f25-bc87-0ba848cabb3b" providerId="ADAL" clId="{B5A53514-1C99-4275-905C-277C44E2517D}" dt="2026-08-19T06:06:20.659" v="102" actId="478"/>
          <ac:spMkLst>
            <pc:docMk/>
            <pc:sldMk cId="0" sldId="262"/>
            <ac:spMk id="18" creationId="{00000000-0000-0000-0000-000000000000}"/>
          </ac:spMkLst>
        </pc:spChg>
        <pc:picChg chg="del">
          <ac:chgData name="Rajat Saddi" userId="2d998638-ae0b-4f25-bc87-0ba848cabb3b" providerId="ADAL" clId="{B5A53514-1C99-4275-905C-277C44E2517D}" dt="2026-08-19T06:06:14.973" v="98" actId="478"/>
          <ac:picMkLst>
            <pc:docMk/>
            <pc:sldMk cId="0" sldId="262"/>
            <ac:picMk id="9" creationId="{00000000-0000-0000-0000-000000000000}"/>
          </ac:picMkLst>
        </pc:picChg>
        <pc:picChg chg="del">
          <ac:chgData name="Rajat Saddi" userId="2d998638-ae0b-4f25-bc87-0ba848cabb3b" providerId="ADAL" clId="{B5A53514-1C99-4275-905C-277C44E2517D}" dt="2026-08-19T06:06:20.659" v="102" actId="478"/>
          <ac:picMkLst>
            <pc:docMk/>
            <pc:sldMk cId="0" sldId="262"/>
            <ac:picMk id="13" creationId="{00000000-0000-0000-0000-000000000000}"/>
          </ac:picMkLst>
        </pc:picChg>
        <pc:picChg chg="del">
          <ac:chgData name="Rajat Saddi" userId="2d998638-ae0b-4f25-bc87-0ba848cabb3b" providerId="ADAL" clId="{B5A53514-1C99-4275-905C-277C44E2517D}" dt="2026-08-19T06:06:20.659" v="102" actId="478"/>
          <ac:picMkLst>
            <pc:docMk/>
            <pc:sldMk cId="0" sldId="262"/>
            <ac:picMk id="17" creationId="{00000000-0000-0000-0000-000000000000}"/>
          </ac:picMkLst>
        </pc:picChg>
      </pc:sldChg>
      <pc:sldChg chg="modSp mod">
        <pc:chgData name="Rajat Saddi" userId="2d998638-ae0b-4f25-bc87-0ba848cabb3b" providerId="ADAL" clId="{B5A53514-1C99-4275-905C-277C44E2517D}" dt="2026-08-19T06:04:27.147" v="83" actId="2165"/>
        <pc:sldMkLst>
          <pc:docMk/>
          <pc:sldMk cId="0" sldId="263"/>
        </pc:sldMkLst>
        <pc:spChg chg="mod">
          <ac:chgData name="Rajat Saddi" userId="2d998638-ae0b-4f25-bc87-0ba848cabb3b" providerId="ADAL" clId="{B5A53514-1C99-4275-905C-277C44E2517D}" dt="2026-08-19T05:45:36.215" v="55" actId="6549"/>
          <ac:spMkLst>
            <pc:docMk/>
            <pc:sldMk cId="0" sldId="263"/>
            <ac:spMk id="5" creationId="{00000000-0000-0000-0000-000000000000}"/>
          </ac:spMkLst>
        </pc:spChg>
        <pc:graphicFrameChg chg="modGraphic">
          <ac:chgData name="Rajat Saddi" userId="2d998638-ae0b-4f25-bc87-0ba848cabb3b" providerId="ADAL" clId="{B5A53514-1C99-4275-905C-277C44E2517D}" dt="2026-08-19T06:04:27.147" v="83" actId="2165"/>
          <ac:graphicFrameMkLst>
            <pc:docMk/>
            <pc:sldMk cId="0" sldId="263"/>
            <ac:graphicFrameMk id="6" creationId="{00000000-0000-0000-0000-000000000000}"/>
          </ac:graphicFrameMkLst>
        </pc:graphicFrameChg>
      </pc:sldChg>
      <pc:sldChg chg="modSp mod">
        <pc:chgData name="Rajat Saddi" userId="2d998638-ae0b-4f25-bc87-0ba848cabb3b" providerId="ADAL" clId="{B5A53514-1C99-4275-905C-277C44E2517D}" dt="2026-08-19T06:05:27.441" v="88" actId="6549"/>
        <pc:sldMkLst>
          <pc:docMk/>
          <pc:sldMk cId="0" sldId="264"/>
        </pc:sldMkLst>
        <pc:spChg chg="mod">
          <ac:chgData name="Rajat Saddi" userId="2d998638-ae0b-4f25-bc87-0ba848cabb3b" providerId="ADAL" clId="{B5A53514-1C99-4275-905C-277C44E2517D}" dt="2026-08-19T06:05:27.441" v="88" actId="6549"/>
          <ac:spMkLst>
            <pc:docMk/>
            <pc:sldMk cId="0" sldId="264"/>
            <ac:spMk id="5" creationId="{00000000-0000-0000-0000-000000000000}"/>
          </ac:spMkLst>
        </pc:spChg>
        <pc:spChg chg="mod">
          <ac:chgData name="Rajat Saddi" userId="2d998638-ae0b-4f25-bc87-0ba848cabb3b" providerId="ADAL" clId="{B5A53514-1C99-4275-905C-277C44E2517D}" dt="2026-08-19T06:04:57.616" v="87" actId="6549"/>
          <ac:spMkLst>
            <pc:docMk/>
            <pc:sldMk cId="0" sldId="264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480642D6-E8BE-42AE-B014-097250270687}" type="datetimeFigureOut">
              <a:rPr lang="en-AU" smtClean="0"/>
              <a:pPr/>
              <a:t>19/08/2026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7979C893-D1F6-4A22-A942-50F6187B19E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185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9C893-D1F6-4A22-A942-50F6187B19E4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134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A443-5D00-4CCF-ACAA-1B6B978E7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A033E-79B0-45CA-8329-F0DFD52C3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736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A443-5D00-4CCF-ACAA-1B6B978E7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A033E-79B0-45CA-8329-F0DFD52C3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869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A443-5D00-4CCF-ACAA-1B6B978E7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A033E-79B0-45CA-8329-F0DFD52C3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2CC12-0C35-44DC-AE7F-2A3BD5EB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C3273B-6006-482C-A631-031E6CE8B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7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1A89-A1AC-45AD-85D6-2E748038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CD73D-19F6-4DC1-9526-63AC5CCE7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BAABF-2CC1-47E9-A179-27D30A9F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207E7-2FB0-4F0F-863F-C90384F17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3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C5E1-CFA2-4D51-BD23-B6DB7EDB5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5F208-896C-4700-9FA8-3660272D1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0F6FA-4794-4146-952E-EB5A0B3A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8E9928-B120-40AB-954D-B9319A373E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1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6B19-BDF9-405C-8F32-49E59A3A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34074-58CF-4535-ADF5-25D5BAE3E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79208-72C5-4229-835D-03C1357F8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FF8E8-B10D-4D7C-91F5-7F2B9367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D58849-7014-4E6C-86F3-F709982574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2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6535-937D-4490-9954-B170E715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589DC-DDEB-4F17-B445-1B634EC17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3E88B-AA77-4056-A89A-A25E28C97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848BD-0645-4EE4-BDB5-428A0736B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07622-A4EC-49D6-9F04-9DF11027E2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1C0DC-5786-4DED-A6ED-F0BA9B2D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12C7C0-0586-439C-BEDC-DCE430072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5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7D02-4418-4E5E-AAD3-24BCFF51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AB996-F85D-4D6A-8B4B-137E7FE8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427DC3-4505-4A3E-87C2-B2BC8FF6F7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2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B7545-7754-4497-9EE6-8604FCC2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38BB0-3CC3-479C-B94B-D07B300D0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22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9205-AA18-448D-A80C-CAB4D93C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63CD-D6FC-46CC-8F3B-90BCC113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5284E-44A5-4D76-98C2-49379AB2F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D90A5-BE94-4D20-9143-A3CD8510D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805B84-D6EF-4D8C-A5A4-229A4C61A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44A0-464C-440C-94FB-61766380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68B5F-11F7-48AD-B261-C95CFFC4F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DFFA6-F072-4589-8997-084D11099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A0BD3-17E8-49C3-8E87-D9F39009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E7CF-5F5D-44BB-B0A8-B347E920C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6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7FEA-DCD7-4988-87E6-BD482251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74450-F4C6-4060-ABD3-12562251C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154EA-D9B5-4C9A-B2F1-FDAA7090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7B1EF-C513-4FCB-84DD-FA928D91B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0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81C84-0934-4B6B-AD86-2717CD8D2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CC42C-0BB0-425A-909B-799A53111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C54D7-5520-492B-991E-A01EDBB4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3E69-6295-4D4C-B333-B2F7354F00FC}" type="datetimeFigureOut">
              <a:rPr lang="en-AU" smtClean="0"/>
              <a:t>19/08/2026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FCF27-2BAF-4939-BD56-B6DD00C289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165" y="6356350"/>
            <a:ext cx="1573655" cy="2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6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2E525-F665-400E-A183-BA5B6A44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1F4ED-2C2F-4A69-9B43-AE545EB00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E5832-3EA3-45C6-80F9-8C289E1E8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Segoe UI" panose="020B0502040204020203" pitchFamily="34" charset="0"/>
              </a:defRPr>
            </a:lvl1pPr>
          </a:lstStyle>
          <a:p>
            <a:fld id="{26293E69-6295-4D4C-B333-B2F7354F00FC}" type="datetimeFigureOut">
              <a:rPr lang="en-AU" smtClean="0"/>
              <a:pPr/>
              <a:t>19/08/2026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66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python-sample-tweeterapp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dotnet/eShop" TargetMode="External"/><Relationship Id="rId4" Type="http://schemas.openxmlformats.org/officeDocument/2006/relationships/hyperlink" Target="https://github.com/dotnet-architecture/eShopOnWeb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rth-ai/workshop-mp-skills-for-ai-native-dev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 i="0" dirty="0">
                <a:solidFill>
                  <a:srgbClr val="FFFFFF"/>
                </a:solidFill>
                <a:latin typeface="Segoe UI Semibold"/>
              </a:rPr>
              <a:t>Workshop </a:t>
            </a:r>
            <a:r>
              <a:rPr lang="en-AU" sz="3400" b="1" i="0" dirty="0">
                <a:solidFill>
                  <a:srgbClr val="FFFFFF"/>
                </a:solidFill>
                <a:latin typeface="Segoe UI Semibold"/>
              </a:rPr>
              <a:t>1 </a:t>
            </a:r>
            <a:r>
              <a:rPr sz="3400" b="1" i="0" dirty="0">
                <a:solidFill>
                  <a:srgbClr val="FFFFFF"/>
                </a:solidFill>
                <a:latin typeface="Segoe UI Semibold"/>
              </a:rPr>
              <a:t>– Matt Pocock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 i="1" dirty="0">
                <a:solidFill>
                  <a:srgbClr val="FFFFFF"/>
                </a:solidFill>
                <a:latin typeface="Segoe UI"/>
              </a:rPr>
              <a:t>Perth AI </a:t>
            </a:r>
            <a:r>
              <a:rPr lang="en-AU" sz="1800" b="0" i="1" dirty="0">
                <a:solidFill>
                  <a:srgbClr val="FFFFFF"/>
                </a:solidFill>
                <a:latin typeface="Segoe UI"/>
              </a:rPr>
              <a:t>Club</a:t>
            </a:r>
          </a:p>
          <a:p>
            <a:r>
              <a:rPr lang="en-AU" sz="1800" i="1" dirty="0">
                <a:solidFill>
                  <a:srgbClr val="FFFFFF"/>
                </a:solidFill>
                <a:latin typeface="Segoe UI"/>
              </a:rPr>
              <a:t>26</a:t>
            </a:r>
            <a:r>
              <a:rPr lang="en-AU" sz="1800" i="1" baseline="30000" dirty="0">
                <a:solidFill>
                  <a:srgbClr val="FFFFFF"/>
                </a:solidFill>
                <a:latin typeface="Segoe UI"/>
              </a:rPr>
              <a:t>th</a:t>
            </a:r>
            <a:r>
              <a:rPr lang="en-AU" sz="1800" i="1" dirty="0">
                <a:solidFill>
                  <a:srgbClr val="FFFFFF"/>
                </a:solidFill>
                <a:latin typeface="Segoe UI"/>
              </a:rPr>
              <a:t> Aug 2026</a:t>
            </a:r>
            <a:endParaRPr sz="1800" b="0" i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304" y="5989320"/>
            <a:ext cx="9144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Segoe UI"/>
              </a:rPr>
              <a:t>Prepared by Rafael Avigad </a:t>
            </a:r>
            <a:r>
              <a:rPr lang="en-AU" sz="1200" dirty="0">
                <a:solidFill>
                  <a:srgbClr val="FFFFFF"/>
                </a:solidFill>
                <a:latin typeface="Segoe UI"/>
              </a:rPr>
              <a:t>and Raj Saddi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Skill selection strategy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ulls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 dirty="0">
                <a:solidFill>
                  <a:srgbClr val="231F20"/>
                </a:solidFill>
                <a:latin typeface="Segoe UI"/>
              </a:rPr>
              <a:t>Go deep on a focused few, not a tour of all ~19 skills </a:t>
            </a:r>
            <a:r>
              <a:rPr lang="en-AU" sz="1600" b="0" i="0" dirty="0">
                <a:solidFill>
                  <a:srgbClr val="231F20"/>
                </a:solidFill>
                <a:latin typeface="Segoe UI"/>
              </a:rPr>
              <a:t>— </a:t>
            </a:r>
            <a:r>
              <a:rPr sz="1600" b="0" i="0" dirty="0">
                <a:solidFill>
                  <a:srgbClr val="231F20"/>
                </a:solidFill>
                <a:latin typeface="Segoe UI"/>
              </a:rPr>
              <a:t>recommendation: a maximum of three.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 dirty="0">
                <a:solidFill>
                  <a:srgbClr val="231F20"/>
                </a:solidFill>
                <a:latin typeface="Segoe UI"/>
              </a:rPr>
              <a:t>Ask Matt</a:t>
            </a:r>
            <a:r>
              <a:rPr lang="en-AU" sz="1600" b="0" i="0" dirty="0">
                <a:solidFill>
                  <a:srgbClr val="231F20"/>
                </a:solidFill>
                <a:latin typeface="Segoe UI"/>
              </a:rPr>
              <a:t> skill</a:t>
            </a:r>
            <a:r>
              <a:rPr sz="1600" b="0" i="0" dirty="0">
                <a:solidFill>
                  <a:srgbClr val="231F20"/>
                </a:solidFill>
                <a:latin typeface="Segoe UI"/>
              </a:rPr>
              <a:t> will be used to justify the shortlist — it's the skill that routes you to whichever skill fits your situation.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F1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Segoe UI Semibold"/>
              </a:rPr>
              <a:t>Grill with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0" i="0">
                <a:solidFill>
                  <a:srgbClr val="FFFFFF"/>
                </a:solidFill>
                <a:latin typeface="Segoe UI"/>
              </a:rPr>
              <a:t>A relentless interview that sharpens a plan or design — and creates docs (ADRs and a glossary) as it goes.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dirty="0">
                <a:solidFill>
                  <a:srgbClr val="FFFFFF"/>
                </a:solidFill>
                <a:latin typeface="Segoe UI"/>
              </a:rPr>
              <a:t>Why it's mandatory:  </a:t>
            </a:r>
            <a:r>
              <a:rPr sz="1250" b="0" i="0" dirty="0">
                <a:solidFill>
                  <a:srgbClr val="FFE9DC"/>
                </a:solidFill>
                <a:latin typeface="Segoe UI"/>
              </a:rPr>
              <a:t>every attendee leaves with a real artifact, not just a demo — and it forces them to actually understand the codebase before touching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88036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FD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063240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414142"/>
                </a:solidFill>
                <a:latin typeface="Segoe UI"/>
              </a:rPr>
              <a:t>PICK </a:t>
            </a:r>
            <a:r>
              <a:rPr lang="en-AU" sz="1200" b="1" i="0" dirty="0">
                <a:solidFill>
                  <a:srgbClr val="414142"/>
                </a:solidFill>
                <a:latin typeface="Segoe UI"/>
              </a:rPr>
              <a:t>2</a:t>
            </a:r>
            <a:r>
              <a:rPr sz="1200" b="1" i="0" dirty="0">
                <a:solidFill>
                  <a:srgbClr val="414142"/>
                </a:solidFill>
                <a:latin typeface="Segoe UI"/>
              </a:rPr>
              <a:t>–</a:t>
            </a:r>
            <a:r>
              <a:rPr lang="en-AU" sz="1200" b="1" i="0" dirty="0">
                <a:solidFill>
                  <a:srgbClr val="414142"/>
                </a:solidFill>
                <a:latin typeface="Segoe UI"/>
              </a:rPr>
              <a:t>3</a:t>
            </a:r>
            <a:r>
              <a:rPr sz="1200" b="1" i="0" dirty="0">
                <a:solidFill>
                  <a:srgbClr val="414142"/>
                </a:solidFill>
                <a:latin typeface="Segoe UI"/>
              </a:rPr>
              <a:t> MORE 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0156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231F20"/>
                </a:solidFill>
                <a:latin typeface="Segoe UI Semibold"/>
              </a:rPr>
              <a:t>Triage  ·  Wayfinder  ·  Code Review  ·  Implement  · 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06240"/>
            <a:ext cx="484632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 dirty="0">
                <a:solidFill>
                  <a:srgbClr val="414142"/>
                </a:solidFill>
                <a:latin typeface="Segoe UI"/>
              </a:rPr>
              <a:t>All five are real skills from Matt Pocock's engineering set — one for triaging issues, one for planning </a:t>
            </a:r>
            <a:r>
              <a:rPr sz="1300" b="0" i="0" dirty="0" err="1">
                <a:solidFill>
                  <a:srgbClr val="414142"/>
                </a:solidFill>
                <a:latin typeface="Segoe UI"/>
              </a:rPr>
              <a:t>oversi</a:t>
            </a:r>
            <a:r>
              <a:rPr lang="en-AU" sz="1300" b="0" i="0" dirty="0">
                <a:solidFill>
                  <a:srgbClr val="414142"/>
                </a:solidFill>
                <a:latin typeface="Segoe UI"/>
              </a:rPr>
              <a:t>z</a:t>
            </a:r>
            <a:r>
              <a:rPr sz="1300" b="0" i="0" dirty="0">
                <a:solidFill>
                  <a:srgbClr val="414142"/>
                </a:solidFill>
                <a:latin typeface="Segoe UI"/>
              </a:rPr>
              <a:t>ed work, one for reviewing a diff, one for implementing a spec, and one for throwaway prototypes.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731520"/>
            <a:ext cx="9601200" cy="640080"/>
          </a:xfrm>
        </p:spPr>
        <p:txBody>
          <a:bodyPr wrap="square" anchor="t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Candidate skills,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438912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939598"/>
                </a:solidFill>
                <a:latin typeface="Segoe UI"/>
              </a:rPr>
              <a:t>VERIFIED AGAINST MATTPOCOCK/SKILLS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55064"/>
            <a:ext cx="548640" cy="54864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" y="1729130"/>
            <a:ext cx="400508" cy="4005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5880" y="1600200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31F20"/>
                </a:solidFill>
                <a:latin typeface="Segoe UI Semibold"/>
              </a:rPr>
              <a:t>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4434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 i="0">
                <a:solidFill>
                  <a:srgbClr val="231F20"/>
                </a:solidFill>
                <a:latin typeface="Segoe UI"/>
              </a:rPr>
              <a:t>Moves an issue or PR through a state machine of roles — categorise, verify, grill if needed, then write an agent-ready brief.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600200"/>
            <a:ext cx="36118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1">
                <a:solidFill>
                  <a:srgbClr val="939598"/>
                </a:solidFill>
                <a:latin typeface="Segoe UI"/>
              </a:rPr>
              <a:t>Fits the ticket-lifecycle framing: attendees start from a bug report, not a blank page.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441448"/>
            <a:ext cx="10881360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8640" y="2496312"/>
            <a:ext cx="548640" cy="54864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" y="2570378"/>
            <a:ext cx="400508" cy="4005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2441448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31F20"/>
                </a:solidFill>
                <a:latin typeface="Segoe UI Semibold"/>
              </a:rPr>
              <a:t>Wayfinder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441448"/>
            <a:ext cx="4434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 i="0" dirty="0">
                <a:solidFill>
                  <a:srgbClr val="231F20"/>
                </a:solidFill>
                <a:latin typeface="Segoe UI"/>
              </a:rPr>
              <a:t>Plans work too big for one session as a shared map of decision tickets on the issue tracker, resolved one at a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41448"/>
            <a:ext cx="36118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1">
                <a:solidFill>
                  <a:srgbClr val="939598"/>
                </a:solidFill>
                <a:latin typeface="Segoe UI"/>
              </a:rPr>
              <a:t>Covers the "larger, open-ended" side, if the exercise grows past a single bug fix.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282696"/>
            <a:ext cx="10881360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" y="3411626"/>
            <a:ext cx="400508" cy="4005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5880" y="3282696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31F20"/>
                </a:solidFill>
                <a:latin typeface="Segoe UI Semibold"/>
              </a:rPr>
              <a:t>Code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282696"/>
            <a:ext cx="4434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 i="0" dirty="0">
                <a:solidFill>
                  <a:srgbClr val="231F20"/>
                </a:solidFill>
                <a:latin typeface="Segoe UI"/>
              </a:rPr>
              <a:t>Reviews a diff against a fixed point on two axes — coding standards and the original spec — via two parallel sub-agent reviews.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282696"/>
            <a:ext cx="36118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1">
                <a:solidFill>
                  <a:srgbClr val="939598"/>
                </a:solidFill>
                <a:latin typeface="Segoe UI"/>
              </a:rPr>
              <a:t>A natural finishing move once students have shipped a change.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23944"/>
            <a:ext cx="10881360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48640" y="4178808"/>
            <a:ext cx="548640" cy="54864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ham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" y="4252874"/>
            <a:ext cx="400508" cy="4005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25880" y="4123944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31F20"/>
                </a:solidFill>
                <a:latin typeface="Segoe UI Semibold"/>
              </a:rPr>
              <a:t>Implement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123944"/>
            <a:ext cx="4434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 i="0" dirty="0">
                <a:solidFill>
                  <a:srgbClr val="231F20"/>
                </a:solidFill>
                <a:latin typeface="Segoe UI"/>
              </a:rPr>
              <a:t>Turns a spec or set of tickets into working code — TDD where possible, </a:t>
            </a:r>
            <a:r>
              <a:rPr sz="1150" b="0" i="0" dirty="0" err="1">
                <a:solidFill>
                  <a:srgbClr val="231F20"/>
                </a:solidFill>
                <a:latin typeface="Segoe UI"/>
              </a:rPr>
              <a:t>typechecks</a:t>
            </a:r>
            <a:r>
              <a:rPr sz="1150" b="0" i="0" dirty="0">
                <a:solidFill>
                  <a:srgbClr val="231F20"/>
                </a:solidFill>
                <a:latin typeface="Segoe UI"/>
              </a:rPr>
              <a:t> and tests along the way, then hands off to Code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123944"/>
            <a:ext cx="36118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1">
                <a:solidFill>
                  <a:srgbClr val="939598"/>
                </a:solidFill>
                <a:latin typeface="Segoe UI"/>
              </a:rPr>
              <a:t>Bridges from ticket to shipped feature — the "build it" step.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965192"/>
            <a:ext cx="10881360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" y="5094122"/>
            <a:ext cx="400508" cy="4005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25880" y="4965192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31F20"/>
                </a:solidFill>
                <a:latin typeface="Segoe UI Semibold"/>
              </a:rPr>
              <a:t>Prototype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965192"/>
            <a:ext cx="4434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 i="0">
                <a:solidFill>
                  <a:srgbClr val="231F20"/>
                </a:solidFill>
                <a:latin typeface="Segoe UI"/>
              </a:rPr>
              <a:t>Throwaway code that answers one design question — a state-model sanity check, or several UI directions to compare side by side.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965192"/>
            <a:ext cx="36118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1">
                <a:solidFill>
                  <a:srgbClr val="939598"/>
                </a:solidFill>
                <a:latin typeface="Segoe UI"/>
              </a:rPr>
              <a:t>Good for the more exploratory moments; noted as potentially complex for a first workshop.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Mapping skills to a realistic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>
                <a:solidFill>
                  <a:srgbClr val="231F20"/>
                </a:solidFill>
                <a:latin typeface="Segoe UI"/>
              </a:rPr>
              <a:t>Structure exercises around a real developer workflow (e.g. a ticket lifecycle, or prototyping) — not a feature-by-feature skill tour.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414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15A29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918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 Semibold"/>
              </a:rPr>
              <a:t>Ask Matt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233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0">
                <a:solidFill>
                  <a:srgbClr val="E7E6E6"/>
                </a:solidFill>
                <a:latin typeface="Segoe UI"/>
              </a:rPr>
              <a:t>Route to the right skill for the task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3758184"/>
            <a:ext cx="493776" cy="347472"/>
          </a:xfrm>
          <a:prstGeom prst="rightArrow">
            <a:avLst/>
          </a:prstGeom>
          <a:solidFill>
            <a:srgbClr val="F1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91840" y="260604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D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2743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EC008C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32918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231F20"/>
                </a:solidFill>
                <a:latin typeface="Segoe UI Semibold"/>
              </a:rPr>
              <a:t>Grill with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40233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0">
                <a:solidFill>
                  <a:srgbClr val="939598"/>
                </a:solidFill>
                <a:latin typeface="Segoe UI"/>
              </a:rPr>
              <a:t>Explore the problem domain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06440" y="3758184"/>
            <a:ext cx="493776" cy="347472"/>
          </a:xfrm>
          <a:prstGeom prst="rightArrow">
            <a:avLst/>
          </a:prstGeom>
          <a:solidFill>
            <a:srgbClr val="F1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35040" y="260604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D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9632" y="2743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EC008C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32918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231F20"/>
                </a:solidFill>
                <a:latin typeface="Segoe UI Semibold"/>
              </a:rPr>
              <a:t>Triage / Wayfinder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0">
                <a:solidFill>
                  <a:srgbClr val="939598"/>
                </a:solidFill>
                <a:latin typeface="Segoe UI"/>
              </a:rPr>
              <a:t>Work the ticket in unfamiliar code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49640" y="3758184"/>
            <a:ext cx="493776" cy="347472"/>
          </a:xfrm>
          <a:prstGeom prst="rightArrow">
            <a:avLst/>
          </a:prstGeom>
          <a:solidFill>
            <a:srgbClr val="F1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778240" y="260604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D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42832" y="2743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EC008C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32918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231F20"/>
                </a:solidFill>
                <a:latin typeface="Segoe UI Semibold"/>
              </a:rPr>
              <a:t>Code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0233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0">
                <a:solidFill>
                  <a:srgbClr val="939598"/>
                </a:solidFill>
                <a:latin typeface="Segoe UI"/>
              </a:rPr>
              <a:t>Check it against standards and spec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Codebase options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bra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965288"/>
              </p:ext>
            </p:extLst>
          </p:nvPr>
        </p:nvGraphicFramePr>
        <p:xfrm>
          <a:off x="548640" y="1645920"/>
          <a:ext cx="1088136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Repo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Stack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Why it fits the workshop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150" b="1" i="0" u="sng">
                          <a:solidFill>
                            <a:srgbClr val="EC008C"/>
                          </a:solidFill>
                          <a:latin typeface="Segoe UI"/>
                          <a:hlinkClick r:id="rId3"/>
                        </a:rPr>
                        <a:t>microsoft/python-sample-tweeterapp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31F20"/>
                          </a:solidFill>
                          <a:latin typeface="Segoe UI"/>
                        </a:rPr>
                        <a:t>Django + React + Postgres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31F20"/>
                          </a:solidFill>
                          <a:latin typeface="Segoe UI"/>
                        </a:rPr>
                        <a:t>Archived (Dec 2023)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31F20"/>
                          </a:solidFill>
                          <a:latin typeface="Segoe UI"/>
                        </a:rPr>
                        <a:t>A Twitter-like social app built for a VS Code/Azure devcontainer workflow. Genuinely abandoned and still renders a real UI — the Python pick if the survey leans that way.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150" b="1" i="0" u="sng">
                          <a:solidFill>
                            <a:srgbClr val="EC008C"/>
                          </a:solidFill>
                          <a:latin typeface="Segoe UI"/>
                          <a:hlinkClick r:id="rId4"/>
                        </a:rPr>
                        <a:t>dotnet-architecture/eShopOnWeb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31F20"/>
                          </a:solidFill>
                          <a:latin typeface="Segoe UI"/>
                        </a:rPr>
                        <a:t>C# · ASP.NET Core 8, Clean Architecture / DDD monolith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Archived (Jan 2025)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Microsoft's own DDD/Clean-Architecture reference app — one deployable monolith, well-documented patterns to critique or refactor. Simplest local setup of the three; the safe C# pick.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150" b="1" i="0" u="sng">
                          <a:solidFill>
                            <a:srgbClr val="EC008C"/>
                          </a:solidFill>
                          <a:latin typeface="Segoe UI"/>
                          <a:hlinkClick r:id="rId5"/>
                        </a:rPr>
                        <a:t>dotnet/eShop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31F20"/>
                          </a:solidFill>
                          <a:latin typeface="Segoe UI"/>
                        </a:rPr>
                        <a:t>C# · .NET 10, services-based via .NET Aspire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31F20"/>
                          </a:solidFill>
                          <a:latin typeface="Segoe UI"/>
                        </a:rPr>
                        <a:t>Active (~10.8k★)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The actively maintained successor to </a:t>
                      </a:r>
                      <a:r>
                        <a:rPr sz="1150" b="0" i="0" dirty="0" err="1">
                          <a:solidFill>
                            <a:srgbClr val="231F20"/>
                          </a:solidFill>
                          <a:latin typeface="Segoe UI"/>
                        </a:rPr>
                        <a:t>eShopOnWeb</a:t>
                      </a:r>
                      <a:r>
                        <a:rPr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, same domain with current patterns — but needs Docker plus the Aspire SDK, </a:t>
                      </a:r>
                      <a:r>
                        <a:rPr lang="en-AU"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most </a:t>
                      </a:r>
                      <a:r>
                        <a:rPr lang="en-AU" sz="1150" b="0" i="0" dirty="0" err="1">
                          <a:solidFill>
                            <a:srgbClr val="231F20"/>
                          </a:solidFill>
                          <a:latin typeface="Segoe UI"/>
                        </a:rPr>
                        <a:t>compex</a:t>
                      </a:r>
                      <a:r>
                        <a:rPr lang="en-AU"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 of the 2</a:t>
                      </a:r>
                      <a:r>
                        <a:rPr sz="115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32120"/>
            <a:ext cx="10881360" cy="850000"/>
          </a:xfrm>
          <a:prstGeom prst="roundRect">
            <a:avLst>
              <a:gd name="adj" fmla="val 6000"/>
            </a:avLst>
          </a:prstGeom>
          <a:solidFill>
            <a:srgbClr val="FD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657038"/>
            <a:ext cx="1033272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 dirty="0">
                <a:solidFill>
                  <a:srgbClr val="231F20"/>
                </a:solidFill>
                <a:latin typeface="Segoe UI"/>
              </a:rPr>
              <a:t>All three work as a legacy-modernisation scenario — we plant tickets and bugs against whichever one we pick.</a:t>
            </a:r>
            <a:br>
              <a:rPr lang="en-AU" sz="1300" b="0" i="0" dirty="0">
                <a:solidFill>
                  <a:srgbClr val="231F20"/>
                </a:solidFill>
                <a:latin typeface="Segoe UI"/>
              </a:rPr>
            </a:br>
            <a:endParaRPr sz="1300" b="0" i="0" dirty="0">
              <a:solidFill>
                <a:srgbClr val="231F20"/>
              </a:solidFill>
              <a:latin typeface="Segoe UI"/>
            </a:endParaRPr>
          </a:p>
          <a:p>
            <a:r>
              <a:rPr sz="1300" b="1" i="0" dirty="0">
                <a:solidFill>
                  <a:srgbClr val="EC008C"/>
                </a:solidFill>
                <a:latin typeface="Segoe UI"/>
              </a:rPr>
              <a:t>Decision pending:  </a:t>
            </a:r>
            <a:r>
              <a:rPr sz="1300" b="0" i="0" dirty="0">
                <a:solidFill>
                  <a:srgbClr val="231F20"/>
                </a:solidFill>
                <a:latin typeface="Segoe UI"/>
              </a:rPr>
              <a:t>attendee language preference (C# vs Python) </a:t>
            </a:r>
            <a:r>
              <a:rPr lang="en-AU" sz="1300" b="0" i="0" dirty="0">
                <a:solidFill>
                  <a:srgbClr val="231F20"/>
                </a:solidFill>
                <a:latin typeface="Segoe UI"/>
              </a:rPr>
              <a:t>w</a:t>
            </a:r>
            <a:r>
              <a:rPr sz="1300" b="0" i="0" dirty="0">
                <a:solidFill>
                  <a:srgbClr val="231F20"/>
                </a:solidFill>
                <a:latin typeface="Segoe UI"/>
              </a:rPr>
              <a:t>ill guide the final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Repo &amp; workshop materials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2246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 dirty="0">
                <a:solidFill>
                  <a:srgbClr val="231F20"/>
                </a:solidFill>
                <a:latin typeface="Segoe UI"/>
              </a:rPr>
              <a:t>A dedicated repo (working names: “</a:t>
            </a:r>
            <a:r>
              <a:rPr sz="1600" b="0" i="0" dirty="0" err="1">
                <a:solidFill>
                  <a:srgbClr val="231F20"/>
                </a:solidFill>
                <a:latin typeface="Segoe UI"/>
              </a:rPr>
              <a:t>MPSkills</a:t>
            </a:r>
            <a:r>
              <a:rPr sz="1600" b="0" i="0" dirty="0">
                <a:solidFill>
                  <a:srgbClr val="231F20"/>
                </a:solidFill>
                <a:latin typeface="Segoe UI"/>
              </a:rPr>
              <a:t>” / “Skills for AI-Native Devs”) will hold the slides, handout, and the skills attendees install.</a:t>
            </a:r>
            <a:endParaRPr lang="en-AU" sz="1600" b="0" i="0" dirty="0">
              <a:solidFill>
                <a:srgbClr val="231F20"/>
              </a:solidFill>
              <a:latin typeface="Segoe UI"/>
            </a:endParaRP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endParaRPr lang="en-AU" sz="1600" b="0" i="0" dirty="0">
              <a:solidFill>
                <a:srgbClr val="231F20"/>
              </a:solidFill>
              <a:latin typeface="Segoe UI"/>
            </a:endParaRPr>
          </a:p>
          <a:p>
            <a:pPr>
              <a:buClr>
                <a:srgbClr val="EC008C"/>
              </a:buClr>
            </a:pPr>
            <a:r>
              <a:rPr lang="en-AU" sz="1600" dirty="0" err="1">
                <a:hlinkClick r:id="rId3"/>
              </a:rPr>
              <a:t>perth</a:t>
            </a:r>
            <a:r>
              <a:rPr lang="en-AU" sz="1600" dirty="0">
                <a:hlinkClick r:id="rId3"/>
              </a:rPr>
              <a:t>-ai/workshop-</a:t>
            </a:r>
            <a:r>
              <a:rPr lang="en-AU" sz="1600" dirty="0" err="1">
                <a:hlinkClick r:id="rId3"/>
              </a:rPr>
              <a:t>mp</a:t>
            </a:r>
            <a:r>
              <a:rPr lang="en-AU" sz="1600" dirty="0">
                <a:hlinkClick r:id="rId3"/>
              </a:rPr>
              <a:t>-skills-for-ai-native-</a:t>
            </a:r>
            <a:r>
              <a:rPr lang="en-AU" sz="1600" dirty="0" err="1">
                <a:hlinkClick r:id="rId3"/>
              </a:rPr>
              <a:t>devs</a:t>
            </a:r>
            <a:r>
              <a:rPr lang="en-AU" sz="1600" dirty="0">
                <a:hlinkClick r:id="rId3"/>
              </a:rPr>
              <a:t>: Provides an software development centric applied co…</a:t>
            </a:r>
            <a:endParaRPr lang="en-AU" sz="1600" dirty="0">
              <a:solidFill>
                <a:srgbClr val="231F20"/>
              </a:solidFill>
              <a:latin typeface="Segoe UI"/>
            </a:endParaRP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endParaRPr sz="1600" b="0" i="0" dirty="0">
              <a:solidFill>
                <a:srgbClr val="231F20"/>
              </a:solidFill>
              <a:latin typeface="Segoe UI"/>
            </a:endParaRP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 dirty="0">
                <a:solidFill>
                  <a:srgbClr val="231F20"/>
                </a:solidFill>
                <a:latin typeface="Segoe UI"/>
              </a:rPr>
              <a:t>Starts private, made public within a week of the workshop.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 dirty="0">
                <a:solidFill>
                  <a:srgbClr val="231F20"/>
                </a:solidFill>
                <a:latin typeface="Segoe UI"/>
              </a:rPr>
              <a:t>Includes a README, a Python .</a:t>
            </a:r>
            <a:r>
              <a:rPr sz="1600" b="0" i="0" dirty="0" err="1">
                <a:solidFill>
                  <a:srgbClr val="231F20"/>
                </a:solidFill>
                <a:latin typeface="Segoe UI"/>
              </a:rPr>
              <a:t>gitignore</a:t>
            </a:r>
            <a:r>
              <a:rPr sz="1600" b="0" i="0" dirty="0">
                <a:solidFill>
                  <a:srgbClr val="231F20"/>
                </a:solidFill>
                <a:latin typeface="Segoe UI"/>
              </a:rPr>
              <a:t>, and a Creative Commons license.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sz="1600" b="0" i="0" dirty="0">
                <a:solidFill>
                  <a:srgbClr val="231F20"/>
                </a:solidFill>
                <a:latin typeface="Segoe UI"/>
              </a:rPr>
              <a:t>Package: a slideshow plus a handout attendees work through during the session.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lang="en-AU" sz="1600" dirty="0">
                <a:solidFill>
                  <a:srgbClr val="231F20"/>
                </a:solidFill>
                <a:latin typeface="Segoe UI"/>
              </a:rPr>
              <a:t>S</a:t>
            </a:r>
            <a:r>
              <a:rPr sz="1600" b="0" i="0" dirty="0" err="1">
                <a:solidFill>
                  <a:srgbClr val="231F20"/>
                </a:solidFill>
                <a:latin typeface="Segoe UI"/>
              </a:rPr>
              <a:t>caffold</a:t>
            </a:r>
            <a:r>
              <a:rPr sz="1600" b="0" i="0" dirty="0">
                <a:solidFill>
                  <a:srgbClr val="231F20"/>
                </a:solidFill>
                <a:latin typeface="Segoe UI"/>
              </a:rPr>
              <a:t> the repo after Friday's in-person planning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D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5230368"/>
            <a:ext cx="640080" cy="64008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90" y="5316778"/>
            <a:ext cx="467259" cy="4672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5230368"/>
            <a:ext cx="225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231F20"/>
                </a:solidFill>
                <a:latin typeface="Segoe UI Semibold"/>
              </a:rPr>
              <a:t>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96128"/>
            <a:ext cx="225552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0" dirty="0">
                <a:solidFill>
                  <a:srgbClr val="939598"/>
                </a:solidFill>
                <a:latin typeface="Segoe UI"/>
              </a:rPr>
              <a:t>The deck </a:t>
            </a:r>
            <a:r>
              <a:rPr lang="en-AU" sz="1150" b="0" i="0" dirty="0">
                <a:solidFill>
                  <a:srgbClr val="939598"/>
                </a:solidFill>
                <a:latin typeface="Segoe UI"/>
              </a:rPr>
              <a:t>to be </a:t>
            </a:r>
            <a:r>
              <a:rPr sz="1150" b="0" i="0" dirty="0">
                <a:solidFill>
                  <a:srgbClr val="939598"/>
                </a:solidFill>
                <a:latin typeface="Segoe UI"/>
              </a:rPr>
              <a:t>used on the day</a:t>
            </a:r>
          </a:p>
        </p:txBody>
      </p:sp>
      <p:sp>
        <p:nvSpPr>
          <p:cNvPr id="12" name="Oval 11"/>
          <p:cNvSpPr/>
          <p:nvPr/>
        </p:nvSpPr>
        <p:spPr>
          <a:xfrm>
            <a:off x="4495800" y="5230368"/>
            <a:ext cx="640080" cy="64008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210" y="5316778"/>
            <a:ext cx="467259" cy="4672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73040" y="5230368"/>
            <a:ext cx="225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231F20"/>
                </a:solidFill>
                <a:latin typeface="Segoe UI Semibold"/>
              </a:rPr>
              <a:t>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3040" y="5596128"/>
            <a:ext cx="2255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0">
                <a:solidFill>
                  <a:srgbClr val="939598"/>
                </a:solidFill>
                <a:latin typeface="Segoe UI"/>
              </a:rPr>
              <a:t>Step-by-step for attendees</a:t>
            </a:r>
          </a:p>
        </p:txBody>
      </p:sp>
      <p:sp>
        <p:nvSpPr>
          <p:cNvPr id="16" name="Oval 15"/>
          <p:cNvSpPr/>
          <p:nvPr/>
        </p:nvSpPr>
        <p:spPr>
          <a:xfrm>
            <a:off x="8122920" y="5230368"/>
            <a:ext cx="640080" cy="64008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330" y="5316778"/>
            <a:ext cx="467259" cy="4672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00160" y="5230368"/>
            <a:ext cx="225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231F20"/>
                </a:solidFill>
                <a:latin typeface="Segoe UI Semibold"/>
              </a:rPr>
              <a:t>Skills to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0160" y="5596128"/>
            <a:ext cx="2255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0">
                <a:solidFill>
                  <a:srgbClr val="939598"/>
                </a:solidFill>
                <a:latin typeface="Segoe UI"/>
              </a:rPr>
              <a:t>The skills they'll need locally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Attendee prerequisites &amp; logistics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b="0" i="0" dirty="0">
                <a:solidFill>
                  <a:srgbClr val="231F20"/>
                </a:solidFill>
                <a:latin typeface="Segoe UI"/>
              </a:rPr>
              <a:t>A one-page prerequisites flyer goes out ahead of time, covering required installs — including Claude Code and Git.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b="0" i="0" dirty="0">
                <a:solidFill>
                  <a:srgbClr val="231F20"/>
                </a:solidFill>
                <a:latin typeface="Segoe UI"/>
              </a:rPr>
              <a:t>Room Wi-Fi </a:t>
            </a:r>
            <a:r>
              <a:rPr lang="en-AU" b="0" i="0" dirty="0">
                <a:solidFill>
                  <a:srgbClr val="231F20"/>
                </a:solidFill>
                <a:latin typeface="Segoe UI"/>
              </a:rPr>
              <a:t>could</a:t>
            </a:r>
            <a:r>
              <a:rPr b="0" i="0" dirty="0">
                <a:solidFill>
                  <a:srgbClr val="231F20"/>
                </a:solidFill>
                <a:latin typeface="Segoe UI"/>
              </a:rPr>
              <a:t> be patchy — attendees should complete installs beforehand; the workshop repo link goes out in advance too.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b="0" i="0" dirty="0">
                <a:solidFill>
                  <a:srgbClr val="231F20"/>
                </a:solidFill>
                <a:latin typeface="Segoe UI"/>
              </a:rPr>
              <a:t>Final prerequisite reminder lands about a day before the workshop.</a:t>
            </a:r>
          </a:p>
          <a:p>
            <a:pPr marL="228600" indent="-228600">
              <a:buClr>
                <a:srgbClr val="EC008C"/>
              </a:buClr>
              <a:buFont typeface="Arial"/>
              <a:buChar char="●"/>
            </a:pPr>
            <a:r>
              <a:rPr lang="en-AU" b="0" i="0" dirty="0">
                <a:solidFill>
                  <a:srgbClr val="231F20"/>
                </a:solidFill>
                <a:latin typeface="Segoe UI"/>
              </a:rPr>
              <a:t>We have early next </a:t>
            </a:r>
            <a:r>
              <a:rPr b="0" i="0" dirty="0">
                <a:solidFill>
                  <a:srgbClr val="231F20"/>
                </a:solidFill>
                <a:latin typeface="Segoe UI"/>
              </a:rPr>
              <a:t>week to </a:t>
            </a:r>
            <a:r>
              <a:rPr b="0" i="0" dirty="0" err="1">
                <a:solidFill>
                  <a:srgbClr val="231F20"/>
                </a:solidFill>
                <a:latin typeface="Segoe UI"/>
              </a:rPr>
              <a:t>finalise</a:t>
            </a:r>
            <a:r>
              <a:rPr b="0" i="0" dirty="0">
                <a:solidFill>
                  <a:srgbClr val="231F20"/>
                </a:solidFill>
                <a:latin typeface="Segoe UI"/>
              </a:rPr>
              <a:t> content and communications.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Action items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92156"/>
              </p:ext>
            </p:extLst>
          </p:nvPr>
        </p:nvGraphicFramePr>
        <p:xfrm>
          <a:off x="548640" y="1600200"/>
          <a:ext cx="10881360" cy="3920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109728" marR="109728" anchor="ctr">
                    <a:solidFill>
                      <a:srgbClr val="EC0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Rafael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In-person session to lock the workshop theme and detailed plan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Friday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Rajat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One-page prerequisites flyer (installs incl. Claude Code, Git)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Before workshop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Rajat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Check for language preference (C# vs Python)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This week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Rafael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Initial workshop outline — scenario, skills, schedule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Mon 24 Aug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Rajat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Trial skills locally (incl. Wayfinder); build candidate repos to help choose the codebase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Weekend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1F20"/>
                          </a:solidFill>
                          <a:latin typeface="Segoe UI"/>
                        </a:rPr>
                        <a:t>Rajat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Share presentation link and gather committee input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1F20"/>
                          </a:solidFill>
                          <a:latin typeface="Segoe UI"/>
                        </a:rPr>
                        <a:t>After today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6072"/>
            <a:ext cx="9601200" cy="777240"/>
          </a:xfrm>
        </p:spPr>
        <p:txBody>
          <a:bodyPr wrap="square" anchor="ctr"/>
          <a:lstStyle/>
          <a:p>
            <a:r>
              <a:rPr sz="3000" b="1" i="0">
                <a:solidFill>
                  <a:srgbClr val="231F20"/>
                </a:solidFill>
                <a:latin typeface="Segoe UI Semibold"/>
              </a:rPr>
              <a:t>Timeline to workshop day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" y="614019"/>
            <a:ext cx="600761" cy="600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939598"/>
                </a:solidFill>
                <a:latin typeface="Segoe UI"/>
              </a:rPr>
              <a:t>PERTH AI  ·  WORKSHOP ·  26 AUG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148840"/>
            <a:ext cx="10515600" cy="0"/>
          </a:xfrm>
          <a:prstGeom prst="line">
            <a:avLst/>
          </a:prstGeom>
          <a:ln w="38100">
            <a:solidFill>
              <a:srgbClr val="F3C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22376" y="2048256"/>
            <a:ext cx="201168" cy="201168"/>
          </a:xfrm>
          <a:prstGeom prst="ellipse">
            <a:avLst/>
          </a:prstGeom>
          <a:solidFill>
            <a:srgbClr val="EC0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1554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231F20"/>
                </a:solidFill>
                <a:latin typeface="Segoe UI Semibold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5719" y="233172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Present this plan to committee</a:t>
            </a:r>
          </a:p>
        </p:txBody>
      </p:sp>
      <p:sp>
        <p:nvSpPr>
          <p:cNvPr id="10" name="Oval 9"/>
          <p:cNvSpPr/>
          <p:nvPr/>
        </p:nvSpPr>
        <p:spPr>
          <a:xfrm>
            <a:off x="2474976" y="2048256"/>
            <a:ext cx="201168" cy="201168"/>
          </a:xfrm>
          <a:prstGeom prst="ellipse">
            <a:avLst/>
          </a:prstGeom>
          <a:solidFill>
            <a:srgbClr val="EC0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98320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231F20"/>
                </a:solidFill>
                <a:latin typeface="Segoe UI Semibold"/>
              </a:rPr>
              <a:t>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880" y="123444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In-person session locks the theme</a:t>
            </a:r>
          </a:p>
        </p:txBody>
      </p:sp>
      <p:sp>
        <p:nvSpPr>
          <p:cNvPr id="13" name="Oval 12"/>
          <p:cNvSpPr/>
          <p:nvPr/>
        </p:nvSpPr>
        <p:spPr>
          <a:xfrm>
            <a:off x="4227576" y="2048256"/>
            <a:ext cx="201168" cy="201168"/>
          </a:xfrm>
          <a:prstGeom prst="ellipse">
            <a:avLst/>
          </a:prstGeom>
          <a:solidFill>
            <a:srgbClr val="EC0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50920" y="1554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231F20"/>
                </a:solidFill>
                <a:latin typeface="Segoe UI Semibold"/>
              </a:rPr>
              <a:t>Weekend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33172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Trial skills, build candidate repos</a:t>
            </a:r>
          </a:p>
        </p:txBody>
      </p:sp>
      <p:sp>
        <p:nvSpPr>
          <p:cNvPr id="16" name="Oval 15"/>
          <p:cNvSpPr/>
          <p:nvPr/>
        </p:nvSpPr>
        <p:spPr>
          <a:xfrm>
            <a:off x="5980176" y="2048256"/>
            <a:ext cx="201168" cy="201168"/>
          </a:xfrm>
          <a:prstGeom prst="ellipse">
            <a:avLst/>
          </a:prstGeom>
          <a:solidFill>
            <a:srgbClr val="EC0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231F20"/>
                </a:solidFill>
                <a:latin typeface="Segoe UI Semibold"/>
              </a:rPr>
              <a:t>Mon 24 Aug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23444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Draft workshop outline ready</a:t>
            </a:r>
          </a:p>
        </p:txBody>
      </p:sp>
      <p:sp>
        <p:nvSpPr>
          <p:cNvPr id="19" name="Oval 18"/>
          <p:cNvSpPr/>
          <p:nvPr/>
        </p:nvSpPr>
        <p:spPr>
          <a:xfrm>
            <a:off x="7732776" y="2048256"/>
            <a:ext cx="201168" cy="201168"/>
          </a:xfrm>
          <a:prstGeom prst="ellipse">
            <a:avLst/>
          </a:prstGeom>
          <a:solidFill>
            <a:srgbClr val="EC0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6120" y="1554480"/>
            <a:ext cx="155448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 dirty="0">
                <a:solidFill>
                  <a:srgbClr val="231F20"/>
                </a:solidFill>
                <a:latin typeface="Segoe UI Semibold"/>
              </a:rPr>
              <a:t>Tue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4680" y="233172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Finalise content &amp; comms</a:t>
            </a:r>
          </a:p>
        </p:txBody>
      </p:sp>
      <p:sp>
        <p:nvSpPr>
          <p:cNvPr id="22" name="Oval 21"/>
          <p:cNvSpPr/>
          <p:nvPr/>
        </p:nvSpPr>
        <p:spPr>
          <a:xfrm>
            <a:off x="9485376" y="2048256"/>
            <a:ext cx="201168" cy="201168"/>
          </a:xfrm>
          <a:prstGeom prst="ellipse">
            <a:avLst/>
          </a:prstGeom>
          <a:solidFill>
            <a:srgbClr val="EC0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08720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231F20"/>
                </a:solidFill>
                <a:latin typeface="Segoe UI Semibold"/>
              </a:rPr>
              <a:t>~1 day before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7280" y="123444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Final prerequisites sent</a:t>
            </a:r>
          </a:p>
        </p:txBody>
      </p:sp>
      <p:sp>
        <p:nvSpPr>
          <p:cNvPr id="25" name="Oval 24"/>
          <p:cNvSpPr/>
          <p:nvPr/>
        </p:nvSpPr>
        <p:spPr>
          <a:xfrm>
            <a:off x="11237976" y="2048256"/>
            <a:ext cx="201168" cy="201168"/>
          </a:xfrm>
          <a:prstGeom prst="ellipse">
            <a:avLst/>
          </a:prstGeom>
          <a:solidFill>
            <a:srgbClr val="F15A2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1554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231F20"/>
                </a:solidFill>
                <a:latin typeface="Segoe UI Semibold"/>
              </a:rPr>
              <a:t>26 Aug, 5:30pm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233172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939598"/>
                </a:solidFill>
                <a:latin typeface="Segoe UI"/>
              </a:rPr>
              <a:t>Workshop — Curtin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414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0">
                <a:solidFill>
                  <a:srgbClr val="F15A29"/>
                </a:solidFill>
                <a:latin typeface="Segoe UI Semibold"/>
              </a:rPr>
              <a:t>Input welcome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8640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 dirty="0">
                <a:solidFill>
                  <a:srgbClr val="FFFFFF"/>
                </a:solidFill>
                <a:latin typeface="Segoe UI"/>
              </a:rPr>
              <a:t>Feedback on the skill shortlist and the codebase direction (Python vs C#) will shape what Raf and Rajat lock in on Friday.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erfuz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C008C"/>
      </a:accent1>
      <a:accent2>
        <a:srgbClr val="F15A29"/>
      </a:accent2>
      <a:accent3>
        <a:srgbClr val="939598"/>
      </a:accent3>
      <a:accent4>
        <a:srgbClr val="414142"/>
      </a:accent4>
      <a:accent5>
        <a:srgbClr val="231F20"/>
      </a:accent5>
      <a:accent6>
        <a:srgbClr val="FF69C2"/>
      </a:accent6>
      <a:hlink>
        <a:srgbClr val="414142"/>
      </a:hlink>
      <a:folHlink>
        <a:srgbClr val="93959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eruzePresentationTemplate.pptx" id="{B3F0425F-4910-4BA9-83C2-A4E22BACA24B}" vid="{3C31E607-908A-48FD-9B5F-0364F6D368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c3298d-73a6-47c2-ac5c-4d61c7482a0c">
      <Terms xmlns="http://schemas.microsoft.com/office/infopath/2007/PartnerControls"/>
    </lcf76f155ced4ddcb4097134ff3c332f>
    <TaxCatchAll xmlns="705cbce7-0af5-4432-bb84-1e315f8e5fb9" xsi:nil="true"/>
    <_Flow_SignoffStatus xmlns="75c3298d-73a6-47c2-ac5c-4d61c7482a0c" xsi:nil="true"/>
    <Test xmlns="75c3298d-73a6-47c2-ac5c-4d61c7482a0c" xsi:nil="true"/>
    <Practice xmlns="75c3298d-73a6-47c2-ac5c-4d61c7482a0c" xsi:nil="true"/>
    <Filelocation xmlns="75c3298d-73a6-47c2-ac5c-4d61c7482a0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6B87E5D9FBDD4DBD4A50A8878F412D" ma:contentTypeVersion="21" ma:contentTypeDescription="Create a new document." ma:contentTypeScope="" ma:versionID="b02b51bcb4e8c13ed8f3595f33b0828b">
  <xsd:schema xmlns:xsd="http://www.w3.org/2001/XMLSchema" xmlns:xs="http://www.w3.org/2001/XMLSchema" xmlns:p="http://schemas.microsoft.com/office/2006/metadata/properties" xmlns:ns2="75c3298d-73a6-47c2-ac5c-4d61c7482a0c" xmlns:ns3="705cbce7-0af5-4432-bb84-1e315f8e5fb9" targetNamespace="http://schemas.microsoft.com/office/2006/metadata/properties" ma:root="true" ma:fieldsID="729af9c0c8a596ddee765bcf9fce9a2a" ns2:_="" ns3:_="">
    <xsd:import namespace="75c3298d-73a6-47c2-ac5c-4d61c7482a0c"/>
    <xsd:import namespace="705cbce7-0af5-4432-bb84-1e315f8e5f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LengthInSeconds" minOccurs="0"/>
                <xsd:element ref="ns2:Practice" minOccurs="0"/>
                <xsd:element ref="ns2:Test" minOccurs="0"/>
                <xsd:element ref="ns2:MediaServiceSearchProperties" minOccurs="0"/>
                <xsd:element ref="ns2:Fil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3298d-73a6-47c2-ac5c-4d61c7482a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0108a56-0ba3-41ff-81fc-c3837ff9ce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Practice" ma:index="25" nillable="true" ma:displayName="Practice" ma:format="RadioButtons" ma:internalName="Practice">
      <xsd:simpleType>
        <xsd:restriction base="dms:Choice">
          <xsd:enumeration value="Atlassian"/>
          <xsd:enumeration value="PowerApps"/>
          <xsd:enumeration value="Full stack"/>
        </xsd:restriction>
      </xsd:simpleType>
    </xsd:element>
    <xsd:element name="Test" ma:index="26" nillable="true" ma:displayName="Deal Registered" ma:description="Has this deal been registered with Atlassian (or Microsoft in future)" ma:format="Dropdown" ma:internalName="Test">
      <xsd:simpleType>
        <xsd:restriction base="dms:Choice">
          <xsd:enumeration value="Yes"/>
          <xsd:enumeration value="No - No Benefit"/>
          <xsd:enumeration value="Action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Filelocation" ma:index="28" nillable="true" ma:displayName="File location" ma:format="Dropdown" ma:internalName="Filelocatio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5cbce7-0af5-4432-bb84-1e315f8e5fb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5f0f599-a3ec-4e64-b1ac-61d68d1fc91a}" ma:internalName="TaxCatchAll" ma:showField="CatchAllData" ma:web="705cbce7-0af5-4432-bb84-1e315f8e5f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5775AF-0C24-4565-BDED-287140A0B418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terms/"/>
    <ds:schemaRef ds:uri="705cbce7-0af5-4432-bb84-1e315f8e5fb9"/>
    <ds:schemaRef ds:uri="75c3298d-73a6-47c2-ac5c-4d61c7482a0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C8A9488-0DC2-4AD0-9C59-84E89BEA5687}">
  <ds:schemaRefs>
    <ds:schemaRef ds:uri="705cbce7-0af5-4432-bb84-1e315f8e5fb9"/>
    <ds:schemaRef ds:uri="75c3298d-73a6-47c2-ac5c-4d61c7482a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B31B0A6-AB57-455A-931D-33DB5C2ACA7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2c472d6-b308-4830-b528-d03405cbbf17}" enabled="0" method="" siteId="{32c472d6-b308-4830-b528-d03405cbbf1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1085</Words>
  <Application>Microsoft Office PowerPoint</Application>
  <PresentationFormat>Widescreen</PresentationFormat>
  <Paragraphs>132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Segoe UI</vt:lpstr>
      <vt:lpstr>Segoe UI Semibold</vt:lpstr>
      <vt:lpstr>Office Theme</vt:lpstr>
      <vt:lpstr>Workshop 1 – Matt Pocock Skills</vt:lpstr>
      <vt:lpstr>Skill selection strategy</vt:lpstr>
      <vt:lpstr>Candidate skills, at a glance</vt:lpstr>
      <vt:lpstr>Mapping skills to a realistic workflow</vt:lpstr>
      <vt:lpstr>Codebase options</vt:lpstr>
      <vt:lpstr>Repo &amp; workshop materials</vt:lpstr>
      <vt:lpstr>Attendee prerequisites &amp; logistics</vt:lpstr>
      <vt:lpstr>Action items</vt:lpstr>
      <vt:lpstr>Timeline to workshop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Interfuze Proposal</dc:title>
  <dc:creator>Lindsey Duncan</dc:creator>
  <cp:lastModifiedBy>Rajat Saddi</cp:lastModifiedBy>
  <cp:revision>6</cp:revision>
  <dcterms:created xsi:type="dcterms:W3CDTF">2021-01-12T05:17:01Z</dcterms:created>
  <dcterms:modified xsi:type="dcterms:W3CDTF">2026-08-19T06:43:50Z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0x0101007C6B87E5D9FBDD4DBD4A50A8878F412D</vt:lpwstr>
  </property>
  <property fmtid="{D5CDD505-2E9C-101B-9397-08002B2CF9AE}" pid="3" name="MediaServiceImageTags">
    <vt:lpwstr/>
  </property>
</Properties>
</file>